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Ref idx="minor">
          <a:srgbClr val="FFFFFF"/>
        </a:fontRef>
        <a:srgbClr val="FFFFFF"/>
      </a:tcTxStyle>
      <a:tcStyle>
        <a:tcBdr>
          <a:left>
            <a:ln w="12700" cap="flat">
              <a:solidFill>
                <a:srgbClr val="FFFFFF"/>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Row>
  </a:tblStyle>
  <a:tblStyle styleId="{C7B018BB-80A7-4F77-B60F-C8B233D01FF8}" styleName="">
    <a:tblBg/>
    <a:wholeTbl>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b="def" i="def"/>
      <a:tcStyle>
        <a:tcBdr/>
        <a:fill>
          <a:solidFill>
            <a:srgbClr val="747676">
              <a:alpha val="64000"/>
            </a:srgbClr>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25400" cap="flat">
              <a:solidFill>
                <a:srgbClr val="FFFFFF"/>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firstCol>
    <a:lastRow>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1">
                  <a:lumOff val="13543"/>
                </a:schemeClr>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solidFill>
            <a:srgbClr val="014D80"/>
          </a:solidFill>
        </a:fill>
      </a:tcStyle>
    </a:firstRow>
  </a:tblStyle>
  <a:tblStyle styleId="{EEE7283C-3CF3-47DC-8721-378D4A62B228}"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b="def" i="def"/>
      <a:tcStyle>
        <a:tcBdr/>
        <a:fill>
          <a:solidFill>
            <a:srgbClr val="747676">
              <a:alpha val="63790"/>
            </a:srgbClr>
          </a:solidFill>
        </a:fill>
      </a:tcStyle>
    </a:band2H>
    <a:firstCol>
      <a:tcTxStyle b="off" i="off">
        <a:font>
          <a:latin typeface="Helvetica Neue Medium"/>
          <a:ea typeface="Helvetica Neue Medium"/>
          <a:cs typeface="Helvetica Neue Medium"/>
        </a:font>
        <a:srgbClr val="FFFFFF"/>
      </a:tcTxStyle>
      <a:tcStyle>
        <a:tcBdr>
          <a:left>
            <a:ln w="12700" cap="flat">
              <a:solidFill>
                <a:srgbClr val="A9A9A9"/>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009D00"/>
          </a:solidFill>
        </a:fill>
      </a:tcStyle>
    </a:firstCol>
    <a:lastRow>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61D836"/>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ff" i="off">
        <a:font>
          <a:latin typeface="Helvetica Neue Medium"/>
          <a:ea typeface="Helvetica Neue Medium"/>
          <a:cs typeface="Helvetica Neue Medium"/>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027002"/>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b="def" i="def"/>
      <a:tcStyle>
        <a:tcBdr/>
        <a:fill>
          <a:solidFill>
            <a:srgbClr val="747676">
              <a:alpha val="63790"/>
            </a:srgb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E3E5E8"/>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chemeClr val="accent4">
              <a:hueOff val="-613784"/>
              <a:lumOff val="1275"/>
            </a:schemeClr>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4">
                  <a:hueOff val="-613784"/>
                  <a:lumOff val="1275"/>
                </a:schemeClr>
              </a:solidFill>
              <a:prstDash val="solid"/>
              <a:miter lim="400000"/>
            </a:ln>
          </a:top>
          <a:bottom>
            <a:ln w="12700" cap="flat">
              <a:solidFill>
                <a:srgbClr val="E3E5E8"/>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E3E5E8"/>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FF5300"/>
          </a:solidFill>
        </a:fill>
      </a:tcStyle>
    </a:firstRow>
  </a:tblStyle>
  <a:tblStyle styleId="{33BA23B1-9221-436E-865A-0063620EA4FD}" styleName="">
    <a:tblBg/>
    <a:wholeTbl>
      <a:tcTxStyle b="off"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Ref idx="minor">
          <a:srgbClr val="FFFFFF"/>
        </a:fontRef>
        <a:srgbClr val="FFFFFF"/>
      </a:tcTxStyle>
      <a:tcStyle>
        <a:tcBdr>
          <a:left>
            <a:ln w="12700" cap="flat">
              <a:solidFill>
                <a:srgbClr val="A6AAA9"/>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98195F"/>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6"/>
              </a:solidFill>
              <a:prstDash val="solid"/>
              <a:miter lim="400000"/>
            </a:ln>
          </a:top>
          <a:bottom>
            <a:ln w="12700" cap="flat">
              <a:solidFill>
                <a:srgbClr val="A6AA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A6AAA9"/>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650E48"/>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b="def" i="def"/>
      <a:tcStyle>
        <a:tcBdr/>
        <a:fill>
          <a:solidFill>
            <a:srgbClr val="747676">
              <a:alpha val="64000"/>
            </a:srgbClr>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262727"/>
          </a:solid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42424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6498" y="11839048"/>
            <a:ext cx="21971003" cy="636979"/>
          </a:xfrm>
          <a:prstGeom prst="rect">
            <a:avLst/>
          </a:prstGeom>
        </p:spPr>
        <p:txBody>
          <a:bodyPr lIns="45719" tIns="45719" rIns="45719" bIns="45719" anchor="b"/>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6500" y="7196865"/>
            <a:ext cx="21971000"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xfrm>
            <a:off x="12007748" y="13080999"/>
            <a:ext cx="368504"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Green, hilly landscape"/>
          <p:cNvSpPr/>
          <p:nvPr>
            <p:ph type="pic" idx="21"/>
          </p:nvPr>
        </p:nvSpPr>
        <p:spPr>
          <a:xfrm>
            <a:off x="-431800" y="-4038600"/>
            <a:ext cx="29464000" cy="18034000"/>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44688"/>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 </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3" name="Body Level One…"/>
          <p:cNvSpPr txBox="1"/>
          <p:nvPr>
            <p:ph type="body" sz="quarter" idx="1" hasCustomPrompt="1"/>
          </p:nvPr>
        </p:nvSpPr>
        <p:spPr>
          <a:xfrm>
            <a:off x="1206500" y="7060576"/>
            <a:ext cx="9779000" cy="5382403"/>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4" name="Moss-covered rocks"/>
          <p:cNvSpPr/>
          <p:nvPr>
            <p:ph type="pic" sz="half" idx="21"/>
          </p:nvPr>
        </p:nvSpPr>
        <p:spPr>
          <a:xfrm>
            <a:off x="12052303" y="1270000"/>
            <a:ext cx="11188406" cy="11209889"/>
          </a:xfrm>
          <a:prstGeom prst="rect">
            <a:avLst/>
          </a:prstGeom>
        </p:spPr>
        <p:txBody>
          <a:bodyPr lIns="91439" tIns="45719" rIns="91439" bIns="45719">
            <a:noAutofit/>
          </a:bodyPr>
          <a:lstStyle/>
          <a:p>
            <a:pP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61" name="Slide Subtitle"/>
          <p:cNvSpPr txBox="1"/>
          <p:nvPr>
            <p:ph type="body" sz="quarter" idx="21" hasCustomPrompt="1"/>
          </p:nvPr>
        </p:nvSpPr>
        <p:spPr>
          <a:xfrm>
            <a:off x="1206500" y="2245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2"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63" name="Large rock formation under dark clouds with a dirt road in the foreground"/>
          <p:cNvSpPr/>
          <p:nvPr>
            <p:ph type="pic" idx="22"/>
          </p:nvPr>
        </p:nvSpPr>
        <p:spPr>
          <a:xfrm>
            <a:off x="6380200" y="1263848"/>
            <a:ext cx="22529801" cy="11193471"/>
          </a:xfrm>
          <a:prstGeom prst="rect">
            <a:avLst/>
          </a:prstGeom>
        </p:spPr>
        <p:txBody>
          <a:bodyPr lIns="91439" tIns="45719" rIns="91439" bIns="45719">
            <a:noAutofit/>
          </a:bodyPr>
          <a:lstStyle/>
          <a:p>
            <a:pP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72" name="Slide Subtitle"/>
          <p:cNvSpPr txBox="1"/>
          <p:nvPr>
            <p:ph type="body" sz="quarter" idx="21" hasCustomPrompt="1"/>
          </p:nvPr>
        </p:nvSpPr>
        <p:spPr>
          <a:xfrm>
            <a:off x="1206500" y="2245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82" name="Slide Subtitle"/>
          <p:cNvSpPr txBox="1"/>
          <p:nvPr>
            <p:ph type="body" sz="quarter" idx="21" hasCustomPrompt="1"/>
          </p:nvPr>
        </p:nvSpPr>
        <p:spPr>
          <a:xfrm>
            <a:off x="1206500" y="2245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952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952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7" name="Body Level One…"/>
          <p:cNvSpPr txBox="1"/>
          <p:nvPr>
            <p:ph type="body" idx="1" hasCustomPrompt="1"/>
          </p:nvPr>
        </p:nvSpPr>
        <p:spPr>
          <a:xfrm>
            <a:off x="1206500" y="935258"/>
            <a:ext cx="21971000" cy="7359063"/>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80825" y="10675453"/>
            <a:ext cx="201492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nchor="ct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Close-up of wild plants growing between rocks"/>
          <p:cNvSpPr/>
          <p:nvPr>
            <p:ph type="pic" sz="quarter" idx="21"/>
          </p:nvPr>
        </p:nvSpPr>
        <p:spPr>
          <a:xfrm>
            <a:off x="15430500" y="7085409"/>
            <a:ext cx="8128000" cy="5410201"/>
          </a:xfrm>
          <a:prstGeom prst="rect">
            <a:avLst/>
          </a:prstGeom>
        </p:spPr>
        <p:txBody>
          <a:bodyPr lIns="91439" tIns="45719" rIns="91439" bIns="45719">
            <a:noAutofit/>
          </a:bodyPr>
          <a:lstStyle/>
          <a:p>
            <a:pPr/>
          </a:p>
        </p:txBody>
      </p:sp>
      <p:sp>
        <p:nvSpPr>
          <p:cNvPr id="145" name="Large rock formation under dark clouds with a dirt road in the foreground"/>
          <p:cNvSpPr/>
          <p:nvPr>
            <p:ph type="pic" idx="22"/>
          </p:nvPr>
        </p:nvSpPr>
        <p:spPr>
          <a:xfrm>
            <a:off x="-2933700" y="1270000"/>
            <a:ext cx="22699133" cy="11277600"/>
          </a:xfrm>
          <a:prstGeom prst="rect">
            <a:avLst/>
          </a:prstGeom>
        </p:spPr>
        <p:txBody>
          <a:bodyPr lIns="91439" tIns="45719" rIns="91439" bIns="45719">
            <a:noAutofit/>
          </a:bodyPr>
          <a:lstStyle/>
          <a:p>
            <a:pPr/>
          </a:p>
        </p:txBody>
      </p:sp>
      <p:sp>
        <p:nvSpPr>
          <p:cNvPr id="146" name="Close-up of a wild plant growing between lava rocks"/>
          <p:cNvSpPr/>
          <p:nvPr>
            <p:ph type="pic" sz="quarter" idx="23"/>
          </p:nvPr>
        </p:nvSpPr>
        <p:spPr>
          <a:xfrm>
            <a:off x="15430500" y="1270000"/>
            <a:ext cx="8128000" cy="54102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waterfall surrounded by a green rocky landscape"/>
          <p:cNvSpPr/>
          <p:nvPr>
            <p:ph type="pic" idx="21"/>
          </p:nvPr>
        </p:nvSpPr>
        <p:spPr>
          <a:xfrm>
            <a:off x="-1511300" y="-3721100"/>
            <a:ext cx="28511500" cy="19030242"/>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00000"/>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952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西村まどか (東北公益文科大学), 2026.10"/>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西村まどか (東北公益文科大学), 2026.10</a:t>
            </a:r>
          </a:p>
        </p:txBody>
      </p:sp>
      <p:sp>
        <p:nvSpPr>
          <p:cNvPr id="172" name="生成 AI ごっこ"/>
          <p:cNvSpPr txBox="1"/>
          <p:nvPr>
            <p:ph type="ctrTitle"/>
          </p:nvPr>
        </p:nvSpPr>
        <p:spPr>
          <a:prstGeom prst="rect">
            <a:avLst/>
          </a:prstGeom>
        </p:spPr>
        <p:txBody>
          <a:bodyPr/>
          <a:lstStyle/>
          <a:p>
            <a:pPr/>
            <a:r>
              <a:t>生成 AI ごっこ</a:t>
            </a:r>
          </a:p>
        </p:txBody>
      </p:sp>
      <p:sp>
        <p:nvSpPr>
          <p:cNvPr id="173" name="大学体験模擬授業"/>
          <p:cNvSpPr txBox="1"/>
          <p:nvPr>
            <p:ph type="subTitle" sz="quarter" idx="1"/>
          </p:nvPr>
        </p:nvSpPr>
        <p:spPr>
          <a:prstGeom prst="rect">
            <a:avLst/>
          </a:prstGeom>
        </p:spPr>
        <p:txBody>
          <a:bodyPr/>
          <a:lstStyle/>
          <a:p>
            <a:pPr/>
            <a:r>
              <a:t>大学体験模擬授業</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理解しないくせに答えちゃう AI のなかみ教えます"/>
          <p:cNvSpPr txBox="1"/>
          <p:nvPr>
            <p:ph type="title"/>
          </p:nvPr>
        </p:nvSpPr>
        <p:spPr>
          <a:prstGeom prst="rect">
            <a:avLst/>
          </a:prstGeom>
        </p:spPr>
        <p:txBody>
          <a:bodyPr/>
          <a:lstStyle>
            <a:lvl1pPr defTabSz="1633687">
              <a:defRPr spc="-155" sz="7772"/>
            </a:lvl1pPr>
          </a:lstStyle>
          <a:p>
            <a:pPr/>
            <a:r>
              <a:t>理解しないくせに答えちゃう AI のなかみ教えます</a:t>
            </a:r>
          </a:p>
        </p:txBody>
      </p:sp>
      <p:sp>
        <p:nvSpPr>
          <p:cNvPr id="176" name="おしながき"/>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おしながき</a:t>
            </a:r>
          </a:p>
        </p:txBody>
      </p:sp>
      <p:sp>
        <p:nvSpPr>
          <p:cNvPr id="177" name="1. AI のなかみ…"/>
          <p:cNvSpPr txBox="1"/>
          <p:nvPr>
            <p:ph type="body" idx="1"/>
          </p:nvPr>
        </p:nvSpPr>
        <p:spPr>
          <a:prstGeom prst="rect">
            <a:avLst/>
          </a:prstGeom>
        </p:spPr>
        <p:txBody>
          <a:bodyPr/>
          <a:lstStyle/>
          <a:p>
            <a:pPr/>
            <a:r>
              <a:t>1. </a:t>
            </a:r>
            <a:r>
              <a:rPr>
                <a:solidFill>
                  <a:srgbClr val="D4FB79"/>
                </a:solidFill>
              </a:rPr>
              <a:t>AI のなかみ</a:t>
            </a:r>
          </a:p>
          <a:p>
            <a:pPr/>
            <a:r>
              <a:t>2. </a:t>
            </a:r>
            <a:r>
              <a:rPr>
                <a:solidFill>
                  <a:srgbClr val="FF85FF"/>
                </a:solidFill>
              </a:rPr>
              <a:t>AI の並び替え</a:t>
            </a:r>
            <a:r>
              <a:t> </a:t>
            </a:r>
          </a:p>
          <a:p>
            <a:pPr/>
            <a:r>
              <a:t>3. </a:t>
            </a:r>
            <a:r>
              <a:rPr>
                <a:solidFill>
                  <a:srgbClr val="FF7E79"/>
                </a:solidFill>
              </a:rPr>
              <a:t>AI の提案</a:t>
            </a:r>
          </a:p>
          <a:p>
            <a:pPr/>
            <a:r>
              <a:t>4. </a:t>
            </a:r>
            <a:r>
              <a:rPr>
                <a:solidFill>
                  <a:srgbClr val="73FDFF"/>
                </a:solidFill>
              </a:rPr>
              <a:t>AI と人間</a:t>
            </a:r>
            <a:endParaRPr>
              <a:solidFill>
                <a:srgbClr val="73FDFF"/>
              </a:solidFill>
            </a:endParaRPr>
          </a:p>
          <a:p>
            <a:pPr/>
            <a:r>
              <a:t>5. 実習</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AI のなかみ"/>
          <p:cNvSpPr txBox="1"/>
          <p:nvPr>
            <p:ph type="title"/>
          </p:nvPr>
        </p:nvSpPr>
        <p:spPr>
          <a:prstGeom prst="rect">
            <a:avLst/>
          </a:prstGeom>
        </p:spPr>
        <p:txBody>
          <a:bodyPr/>
          <a:lstStyle>
            <a:lvl1pPr defTabSz="825500">
              <a:lnSpc>
                <a:spcPct val="100000"/>
              </a:lnSpc>
              <a:spcBef>
                <a:spcPts val="1800"/>
              </a:spcBef>
              <a:defRPr b="0" spc="-55" sz="5500">
                <a:solidFill>
                  <a:srgbClr val="FFFC79"/>
                </a:solidFill>
              </a:defRPr>
            </a:lvl1pPr>
          </a:lstStyle>
          <a:p>
            <a:pPr/>
            <a:r>
              <a:t>AI のなかみ</a:t>
            </a:r>
          </a:p>
        </p:txBody>
      </p:sp>
      <p:sp>
        <p:nvSpPr>
          <p:cNvPr id="180" name="データを持ってくる"/>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データを持ってくる</a:t>
            </a:r>
          </a:p>
        </p:txBody>
      </p:sp>
      <p:sp>
        <p:nvSpPr>
          <p:cNvPr id="181" name="主にインターネットから持ってくることができるデータを持っている…"/>
          <p:cNvSpPr txBox="1"/>
          <p:nvPr>
            <p:ph type="body" idx="1"/>
          </p:nvPr>
        </p:nvSpPr>
        <p:spPr>
          <a:prstGeom prst="rect">
            <a:avLst/>
          </a:prstGeom>
        </p:spPr>
        <p:txBody>
          <a:bodyPr/>
          <a:lstStyle/>
          <a:p>
            <a:pPr lvl="2"/>
            <a:r>
              <a:t>主にインターネットから持ってくることができるデータを持っている</a:t>
            </a:r>
          </a:p>
          <a:p>
            <a:pPr lvl="2"/>
            <a:r>
              <a:t>目的別に正解データを足して専用に答える準備 (サイコロづくり)</a:t>
            </a:r>
          </a:p>
          <a:p>
            <a:pPr lvl="2"/>
            <a:r>
              <a:t>答えるときは偏ったサイコロ</a:t>
            </a:r>
          </a:p>
        </p:txBody>
      </p:sp>
      <p:pic>
        <p:nvPicPr>
          <p:cNvPr id="182" name="Gemini_Generated_Image_kvwlfckvwlfckvwl.jpg" descr="Gemini_Generated_Image_kvwlfckvwlfckvwl.jpg"/>
          <p:cNvPicPr>
            <a:picLocks noChangeAspect="1"/>
          </p:cNvPicPr>
          <p:nvPr/>
        </p:nvPicPr>
        <p:blipFill>
          <a:blip r:embed="rId2">
            <a:extLst/>
          </a:blip>
          <a:stretch>
            <a:fillRect/>
          </a:stretch>
        </p:blipFill>
        <p:spPr>
          <a:xfrm>
            <a:off x="14540962" y="8554880"/>
            <a:ext cx="11876924" cy="6628981"/>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AI の並び替え"/>
          <p:cNvSpPr txBox="1"/>
          <p:nvPr>
            <p:ph type="title"/>
          </p:nvPr>
        </p:nvSpPr>
        <p:spPr>
          <a:prstGeom prst="rect">
            <a:avLst/>
          </a:prstGeom>
        </p:spPr>
        <p:txBody>
          <a:bodyPr/>
          <a:lstStyle>
            <a:lvl1pPr defTabSz="825500">
              <a:lnSpc>
                <a:spcPct val="100000"/>
              </a:lnSpc>
              <a:spcBef>
                <a:spcPts val="1800"/>
              </a:spcBef>
              <a:defRPr b="0" spc="-55" sz="5500">
                <a:solidFill>
                  <a:srgbClr val="FF85FF"/>
                </a:solidFill>
              </a:defRPr>
            </a:lvl1pPr>
          </a:lstStyle>
          <a:p>
            <a:pPr/>
            <a:r>
              <a:t>AI の並び替え</a:t>
            </a:r>
          </a:p>
        </p:txBody>
      </p:sp>
      <p:sp>
        <p:nvSpPr>
          <p:cNvPr id="185" name="集めたデータを数える"/>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集めたデータを数える</a:t>
            </a:r>
          </a:p>
        </p:txBody>
      </p:sp>
      <p:sp>
        <p:nvSpPr>
          <p:cNvPr id="186" name="今持っている単語の次に並ぶ単語の確率順に並べる…"/>
          <p:cNvSpPr txBox="1"/>
          <p:nvPr>
            <p:ph type="body" idx="1"/>
          </p:nvPr>
        </p:nvSpPr>
        <p:spPr>
          <a:prstGeom prst="rect">
            <a:avLst/>
          </a:prstGeom>
        </p:spPr>
        <p:txBody>
          <a:bodyPr/>
          <a:lstStyle/>
          <a:p>
            <a:pPr/>
          </a:p>
          <a:p>
            <a:pPr lvl="2"/>
            <a:r>
              <a:t>今持っている単語の次に並ぶ単語の確率順に並べる</a:t>
            </a:r>
          </a:p>
          <a:p>
            <a:pPr lvl="2"/>
            <a:r>
              <a:t>正解を出せる順番であるか試しながら改善される</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AI の提案"/>
          <p:cNvSpPr txBox="1"/>
          <p:nvPr>
            <p:ph type="title"/>
          </p:nvPr>
        </p:nvSpPr>
        <p:spPr>
          <a:prstGeom prst="rect">
            <a:avLst/>
          </a:prstGeom>
        </p:spPr>
        <p:txBody>
          <a:bodyPr/>
          <a:lstStyle>
            <a:lvl1pPr defTabSz="825500">
              <a:lnSpc>
                <a:spcPct val="100000"/>
              </a:lnSpc>
              <a:spcBef>
                <a:spcPts val="1800"/>
              </a:spcBef>
              <a:defRPr b="0" spc="-55" sz="5500">
                <a:solidFill>
                  <a:srgbClr val="FF7E79"/>
                </a:solidFill>
              </a:defRPr>
            </a:lvl1pPr>
          </a:lstStyle>
          <a:p>
            <a:pPr/>
            <a:r>
              <a:t>AI の提案</a:t>
            </a:r>
          </a:p>
        </p:txBody>
      </p:sp>
      <p:sp>
        <p:nvSpPr>
          <p:cNvPr id="189" name="大正解とポジティブとネガティブ"/>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大正解とポジティブとネガティブ</a:t>
            </a:r>
          </a:p>
        </p:txBody>
      </p:sp>
      <p:sp>
        <p:nvSpPr>
          <p:cNvPr id="190" name="みんなが答えているものの多数を正解として答える…"/>
          <p:cNvSpPr txBox="1"/>
          <p:nvPr>
            <p:ph type="body" idx="1"/>
          </p:nvPr>
        </p:nvSpPr>
        <p:spPr>
          <a:prstGeom prst="rect">
            <a:avLst/>
          </a:prstGeom>
        </p:spPr>
        <p:txBody>
          <a:bodyPr/>
          <a:lstStyle/>
          <a:p>
            <a:pPr/>
            <a:r>
              <a:t>みんなが答えているものの</a:t>
            </a:r>
            <a:r>
              <a:rPr>
                <a:solidFill>
                  <a:srgbClr val="FFFB00"/>
                </a:solidFill>
              </a:rPr>
              <a:t>多数を正解</a:t>
            </a:r>
            <a:r>
              <a:t>として答える</a:t>
            </a:r>
          </a:p>
          <a:p>
            <a:pPr/>
            <a:r>
              <a:t>ポジティブとネガティブを</a:t>
            </a:r>
            <a:r>
              <a:rPr>
                <a:solidFill>
                  <a:srgbClr val="73FA79"/>
                </a:solidFill>
              </a:rPr>
              <a:t>並べちゃう</a:t>
            </a:r>
            <a:r>
              <a:t>: </a:t>
            </a:r>
            <a:r>
              <a:rPr>
                <a:solidFill>
                  <a:srgbClr val="FF2F92"/>
                </a:solidFill>
              </a:rPr>
              <a:t>あなた</a:t>
            </a:r>
            <a:r>
              <a:t>の主張になっている?</a:t>
            </a:r>
          </a:p>
          <a:p>
            <a:pPr/>
            <a:r>
              <a:t>よく読むと</a:t>
            </a:r>
            <a:r>
              <a:rPr>
                <a:solidFill>
                  <a:srgbClr val="73FDFF"/>
                </a:solidFill>
              </a:rPr>
              <a:t>正しくない</a:t>
            </a:r>
            <a:r>
              <a:t>こともある: だってサイコロ使って言葉を埋めたから</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AI と人間"/>
          <p:cNvSpPr txBox="1"/>
          <p:nvPr>
            <p:ph type="title"/>
          </p:nvPr>
        </p:nvSpPr>
        <p:spPr>
          <a:prstGeom prst="rect">
            <a:avLst/>
          </a:prstGeom>
        </p:spPr>
        <p:txBody>
          <a:bodyPr/>
          <a:lstStyle>
            <a:lvl1pPr defTabSz="825500">
              <a:lnSpc>
                <a:spcPct val="100000"/>
              </a:lnSpc>
              <a:spcBef>
                <a:spcPts val="1800"/>
              </a:spcBef>
              <a:defRPr b="0" spc="-55" sz="5500">
                <a:solidFill>
                  <a:srgbClr val="73FDFF"/>
                </a:solidFill>
              </a:defRPr>
            </a:lvl1pPr>
          </a:lstStyle>
          <a:p>
            <a:pPr/>
            <a:r>
              <a:t>AI と人間</a:t>
            </a:r>
          </a:p>
        </p:txBody>
      </p:sp>
      <p:sp>
        <p:nvSpPr>
          <p:cNvPr id="193" name="人間は AI に伝わる文章を書けるようになればいい"/>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人間は AI に</a:t>
            </a:r>
            <a:r>
              <a:rPr>
                <a:solidFill>
                  <a:srgbClr val="73FDFF"/>
                </a:solidFill>
              </a:rPr>
              <a:t>伝わる文章</a:t>
            </a:r>
            <a:r>
              <a:t>を書けるようになればいい</a:t>
            </a:r>
          </a:p>
        </p:txBody>
      </p:sp>
      <p:sp>
        <p:nvSpPr>
          <p:cNvPr id="194" name="AI は大勢の書いた文章とごく少数の専門的な文章から確率的に文を並べる…"/>
          <p:cNvSpPr txBox="1"/>
          <p:nvPr>
            <p:ph type="body" idx="1"/>
          </p:nvPr>
        </p:nvSpPr>
        <p:spPr>
          <a:prstGeom prst="rect">
            <a:avLst/>
          </a:prstGeom>
        </p:spPr>
        <p:txBody>
          <a:bodyPr/>
          <a:lstStyle/>
          <a:p>
            <a:pPr/>
            <a:r>
              <a:t>AI は大勢の書いた文章とごく少数の専門的な文章から確率的に文を並べる</a:t>
            </a:r>
          </a:p>
          <a:p>
            <a:pPr/>
            <a:r>
              <a:t> 人間は設定説明: </a:t>
            </a:r>
            <a:r>
              <a:rPr>
                <a:solidFill>
                  <a:srgbClr val="FFFB00"/>
                </a:solidFill>
              </a:rPr>
              <a:t>Markdown</a:t>
            </a:r>
            <a:r>
              <a:t> が伝わるよ　&lt;Notebook の書き方&gt;</a:t>
            </a:r>
          </a:p>
          <a:p>
            <a:pPr/>
            <a:r>
              <a:t>AI は必要なことを</a:t>
            </a:r>
            <a:r>
              <a:rPr>
                <a:solidFill>
                  <a:srgbClr val="FF2F92"/>
                </a:solidFill>
              </a:rPr>
              <a:t>穴埋めしてくれる…けど</a:t>
            </a:r>
            <a:r>
              <a:t>?</a:t>
            </a:r>
          </a:p>
          <a:p>
            <a:pPr/>
            <a:r>
              <a:t>更新頻度が高いので明日は</a:t>
            </a:r>
            <a:r>
              <a:rPr>
                <a:solidFill>
                  <a:srgbClr val="73FA79"/>
                </a:solidFill>
              </a:rPr>
              <a:t>別のしくみ</a:t>
            </a:r>
            <a:r>
              <a:t>で答えが出るかもしれない</a:t>
            </a:r>
          </a:p>
        </p:txBody>
      </p:sp>
      <p:sp>
        <p:nvSpPr>
          <p:cNvPr id="195" name="答えを説明できる力を身につけるべし"/>
          <p:cNvSpPr txBox="1"/>
          <p:nvPr/>
        </p:nvSpPr>
        <p:spPr>
          <a:xfrm>
            <a:off x="11576151" y="10186479"/>
            <a:ext cx="10422637" cy="7112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答えを説明できる力を身につけるべし</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データ"/>
          <p:cNvSpPr txBox="1"/>
          <p:nvPr>
            <p:ph type="title"/>
          </p:nvPr>
        </p:nvSpPr>
        <p:spPr>
          <a:prstGeom prst="rect">
            <a:avLst/>
          </a:prstGeom>
        </p:spPr>
        <p:txBody>
          <a:bodyPr/>
          <a:lstStyle/>
          <a:p>
            <a:pPr/>
            <a:r>
              <a:t>データ</a:t>
            </a:r>
          </a:p>
        </p:txBody>
      </p:sp>
      <p:sp>
        <p:nvSpPr>
          <p:cNvPr id="198" name="りんごとのりまき"/>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りんごとのりまき</a:t>
            </a:r>
          </a:p>
        </p:txBody>
      </p:sp>
      <p:sp>
        <p:nvSpPr>
          <p:cNvPr id="199" name="りんごは丸い…"/>
          <p:cNvSpPr txBox="1"/>
          <p:nvPr>
            <p:ph type="body" sz="half" idx="1"/>
          </p:nvPr>
        </p:nvSpPr>
        <p:spPr>
          <a:prstGeom prst="rect">
            <a:avLst/>
          </a:prstGeom>
        </p:spPr>
        <p:txBody>
          <a:bodyPr/>
          <a:lstStyle/>
          <a:p>
            <a:pPr/>
            <a:r>
              <a:t>りんごは丸い</a:t>
            </a:r>
          </a:p>
          <a:p>
            <a:pPr/>
            <a:r>
              <a:t>のりまきは丸い</a:t>
            </a:r>
          </a:p>
          <a:p>
            <a:pPr/>
            <a:r>
              <a:t>りんごは赤い</a:t>
            </a:r>
          </a:p>
          <a:p>
            <a:pPr/>
            <a:r>
              <a:t>赤いりんごはおいしい</a:t>
            </a:r>
          </a:p>
          <a:p>
            <a:pPr/>
            <a:r>
              <a:t>のりまきはおいしい</a:t>
            </a:r>
          </a:p>
          <a:p>
            <a:pPr/>
            <a:r>
              <a:t>りんごが赤いし丸い</a:t>
            </a:r>
          </a:p>
        </p:txBody>
      </p:sp>
      <p:pic>
        <p:nvPicPr>
          <p:cNvPr id="200" name="Gemini_Generated_Image_26xmqa26xmqa26xm.jpg" descr="Gemini_Generated_Image_26xmqa26xmqa26xm.jpg"/>
          <p:cNvPicPr>
            <a:picLocks noChangeAspect="1"/>
          </p:cNvPicPr>
          <p:nvPr>
            <p:ph type="pic" idx="22"/>
          </p:nvPr>
        </p:nvPicPr>
        <p:blipFill>
          <a:blip r:embed="rId2">
            <a:extLst/>
          </a:blip>
          <a:srcRect l="17361" t="0" r="17361" b="0"/>
          <a:stretch>
            <a:fillRect/>
          </a:stretch>
        </p:blipFill>
        <p:spPr>
          <a:xfrm>
            <a:off x="11912600" y="2294958"/>
            <a:ext cx="10922001" cy="9126481"/>
          </a:xfrm>
          <a:prstGeom prst="rect">
            <a:avLst/>
          </a:prstGeom>
          <a:ln w="76200">
            <a:solidFill>
              <a:srgbClr val="FFFFFF"/>
            </a:solidFill>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のりまきとりんごを説明する AI による提案"/>
          <p:cNvSpPr txBox="1"/>
          <p:nvPr>
            <p:ph type="title"/>
          </p:nvPr>
        </p:nvSpPr>
        <p:spPr>
          <a:prstGeom prst="rect">
            <a:avLst/>
          </a:prstGeom>
        </p:spPr>
        <p:txBody>
          <a:bodyPr/>
          <a:lstStyle/>
          <a:p>
            <a:pPr/>
            <a:r>
              <a:t>のりまきとりんごを説明する AI による提案</a:t>
            </a:r>
          </a:p>
        </p:txBody>
      </p:sp>
      <p:sp>
        <p:nvSpPr>
          <p:cNvPr id="203" name="どんなことをいいそうなのか"/>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どんなことをいいそうなのか</a:t>
            </a:r>
          </a:p>
        </p:txBody>
      </p:sp>
      <p:sp>
        <p:nvSpPr>
          <p:cNvPr id="204" name="1. 出てくる数を数える…"/>
          <p:cNvSpPr txBox="1"/>
          <p:nvPr>
            <p:ph type="body" idx="1"/>
          </p:nvPr>
        </p:nvSpPr>
        <p:spPr>
          <a:prstGeom prst="rect">
            <a:avLst/>
          </a:prstGeom>
        </p:spPr>
        <p:txBody>
          <a:bodyPr/>
          <a:lstStyle/>
          <a:p>
            <a:pPr marL="0" indent="0" defTabSz="825500">
              <a:lnSpc>
                <a:spcPct val="100000"/>
              </a:lnSpc>
              <a:spcBef>
                <a:spcPts val="1800"/>
              </a:spcBef>
              <a:buSzTx/>
              <a:buNone/>
              <a:defRPr spc="-55" sz="5500"/>
            </a:pPr>
            <a:r>
              <a:t>1. 出てくる数を数える</a:t>
            </a:r>
          </a:p>
          <a:p>
            <a:pPr marL="0" indent="0" defTabSz="825500">
              <a:lnSpc>
                <a:spcPct val="100000"/>
              </a:lnSpc>
              <a:spcBef>
                <a:spcPts val="1800"/>
              </a:spcBef>
              <a:buSzTx/>
              <a:buNone/>
              <a:defRPr spc="-55" sz="5500"/>
            </a:pPr>
          </a:p>
          <a:p>
            <a:pPr marL="0" indent="0" defTabSz="825500">
              <a:lnSpc>
                <a:spcPct val="100000"/>
              </a:lnSpc>
              <a:spcBef>
                <a:spcPts val="1800"/>
              </a:spcBef>
              <a:buSzTx/>
              <a:buNone/>
              <a:defRPr spc="-55" sz="5500"/>
            </a:pPr>
            <a:r>
              <a:t>2. 聞かれた単語の次に出てくる割合 (確率) を求める</a:t>
            </a:r>
          </a:p>
          <a:p>
            <a:pPr marL="0" indent="0" defTabSz="825500">
              <a:lnSpc>
                <a:spcPct val="100000"/>
              </a:lnSpc>
              <a:spcBef>
                <a:spcPts val="1800"/>
              </a:spcBef>
              <a:buSzTx/>
              <a:buNone/>
              <a:defRPr spc="-55" sz="5500"/>
            </a:pPr>
          </a:p>
          <a:p>
            <a:pPr marL="0" indent="0" defTabSz="825500">
              <a:lnSpc>
                <a:spcPct val="100000"/>
              </a:lnSpc>
              <a:spcBef>
                <a:spcPts val="1800"/>
              </a:spcBef>
              <a:buSzTx/>
              <a:buNone/>
              <a:defRPr spc="-55" sz="5500"/>
            </a:pPr>
            <a:r>
              <a:t>3.  並べる</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AI と人間 AGAIN"/>
          <p:cNvSpPr txBox="1"/>
          <p:nvPr>
            <p:ph type="title"/>
          </p:nvPr>
        </p:nvSpPr>
        <p:spPr>
          <a:prstGeom prst="rect">
            <a:avLst/>
          </a:prstGeom>
        </p:spPr>
        <p:txBody>
          <a:bodyPr/>
          <a:lstStyle>
            <a:lvl1pPr>
              <a:defRPr>
                <a:solidFill>
                  <a:srgbClr val="4F8F00"/>
                </a:solidFill>
              </a:defRPr>
            </a:lvl1pPr>
          </a:lstStyle>
          <a:p>
            <a:pPr/>
            <a:r>
              <a:t>AI と人間 AGAIN</a:t>
            </a:r>
          </a:p>
        </p:txBody>
      </p:sp>
      <p:sp>
        <p:nvSpPr>
          <p:cNvPr id="207" name="提案されたものから考えよう"/>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提案されたものから考えよう</a:t>
            </a:r>
          </a:p>
        </p:txBody>
      </p:sp>
      <p:sp>
        <p:nvSpPr>
          <p:cNvPr id="208" name="確率的に出された答えは果たして自分が必要な答えになっているのか？…"/>
          <p:cNvSpPr txBox="1"/>
          <p:nvPr>
            <p:ph type="body" idx="1"/>
          </p:nvPr>
        </p:nvSpPr>
        <p:spPr>
          <a:prstGeom prst="rect">
            <a:avLst/>
          </a:prstGeom>
        </p:spPr>
        <p:txBody>
          <a:bodyPr/>
          <a:lstStyle/>
          <a:p>
            <a:pPr/>
            <a:r>
              <a:t>確率的に出された答えは果たして</a:t>
            </a:r>
            <a:r>
              <a:rPr>
                <a:solidFill>
                  <a:srgbClr val="D783FF"/>
                </a:solidFill>
              </a:rPr>
              <a:t>自分が必要な答え</a:t>
            </a:r>
            <a:r>
              <a:t>になっているのか？</a:t>
            </a:r>
          </a:p>
          <a:p>
            <a:pPr lvl="2"/>
            <a:r>
              <a:t>“必要” には</a:t>
            </a:r>
            <a:r>
              <a:rPr>
                <a:solidFill>
                  <a:srgbClr val="D4FB79"/>
                </a:solidFill>
              </a:rPr>
              <a:t>裏付け</a:t>
            </a:r>
            <a:r>
              <a:t>が含まれる</a:t>
            </a:r>
          </a:p>
          <a:p>
            <a:pPr lvl="2"/>
            <a:r>
              <a:t>いわばサイコロを振って</a:t>
            </a:r>
            <a:r>
              <a:rPr>
                <a:solidFill>
                  <a:srgbClr val="7A81FF"/>
                </a:solidFill>
              </a:rPr>
              <a:t>無責任に出てきた文</a:t>
            </a:r>
            <a:r>
              <a:t>であることを自覚する</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0_BasicBlack">
  <a:themeElements>
    <a:clrScheme name="20_BasicBlack">
      <a:dk1>
        <a:srgbClr val="000000"/>
      </a:dk1>
      <a:lt1>
        <a:srgbClr val="FFFFFF"/>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0_BasicBlack">
      <a:majorFont>
        <a:latin typeface="Helvetica Neue"/>
        <a:ea typeface="Helvetica Neue"/>
        <a:cs typeface="Helvetica Neue"/>
      </a:majorFont>
      <a:minorFont>
        <a:latin typeface="Helvetica Neue"/>
        <a:ea typeface="Helvetica Neue"/>
        <a:cs typeface="Helvetica Neue"/>
      </a:minorFont>
    </a:fontScheme>
    <a:fmtScheme name="20_Basic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0_BasicBlack">
  <a:themeElements>
    <a:clrScheme name="20_BasicBlack">
      <a:dk1>
        <a:srgbClr val="000000"/>
      </a:dk1>
      <a:lt1>
        <a:srgbClr val="FFFFFF"/>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0_BasicBlack">
      <a:majorFont>
        <a:latin typeface="Helvetica Neue"/>
        <a:ea typeface="Helvetica Neue"/>
        <a:cs typeface="Helvetica Neue"/>
      </a:majorFont>
      <a:minorFont>
        <a:latin typeface="Helvetica Neue"/>
        <a:ea typeface="Helvetica Neue"/>
        <a:cs typeface="Helvetica Neue"/>
      </a:minorFont>
    </a:fontScheme>
    <a:fmtScheme name="20_Basic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